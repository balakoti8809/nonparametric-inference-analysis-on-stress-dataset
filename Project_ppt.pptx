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7" r:id="rId4"/>
    <p:sldId id="259" r:id="rId5"/>
    <p:sldId id="260" r:id="rId6"/>
    <p:sldId id="262" r:id="rId7"/>
    <p:sldId id="268" r:id="rId8"/>
    <p:sldId id="267" r:id="rId9"/>
    <p:sldId id="270" r:id="rId10"/>
    <p:sldId id="271" r:id="rId11"/>
    <p:sldId id="272" r:id="rId12"/>
    <p:sldId id="269" r:id="rId13"/>
    <p:sldId id="273" r:id="rId14"/>
    <p:sldId id="274" r:id="rId15"/>
    <p:sldId id="275" r:id="rId16"/>
    <p:sldId id="27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142852"/>
            <a:ext cx="7772400" cy="1470025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tx2">
                    <a:lumMod val="75000"/>
                  </a:schemeClr>
                </a:solidFill>
              </a:rPr>
              <a:t>Title:</a:t>
            </a: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i="1" dirty="0" smtClean="0">
                <a:solidFill>
                  <a:schemeClr val="tx2">
                    <a:lumMod val="75000"/>
                  </a:schemeClr>
                </a:solidFill>
              </a:rPr>
              <a:t>Nonparametric Inference Analysis on Stress Dataset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1538" y="2643182"/>
            <a:ext cx="6543676" cy="407196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 Authors: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Mohit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Kulhari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Rutvik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Vamja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Akhilesh</a:t>
            </a:r>
            <a:r>
              <a:rPr lang="en-US" sz="2400" dirty="0" smtClean="0">
                <a:solidFill>
                  <a:schemeClr val="tx1"/>
                </a:solidFill>
              </a:rPr>
              <a:t> Pal, </a:t>
            </a:r>
            <a:r>
              <a:rPr lang="en-US" sz="2400" dirty="0" err="1" smtClean="0">
                <a:solidFill>
                  <a:schemeClr val="tx1"/>
                </a:solidFill>
              </a:rPr>
              <a:t>Suneel</a:t>
            </a:r>
            <a:r>
              <a:rPr lang="en-US" sz="2400" dirty="0" smtClean="0">
                <a:solidFill>
                  <a:schemeClr val="tx1"/>
                </a:solidFill>
              </a:rPr>
              <a:t> Kumar, </a:t>
            </a:r>
            <a:r>
              <a:rPr lang="en-US" sz="2400" dirty="0" err="1" smtClean="0">
                <a:solidFill>
                  <a:schemeClr val="tx1"/>
                </a:solidFill>
              </a:rPr>
              <a:t>Jatavath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Balakoti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Course:</a:t>
            </a:r>
            <a:r>
              <a:rPr lang="en-US" sz="2400" dirty="0" smtClean="0">
                <a:solidFill>
                  <a:schemeClr val="tx1"/>
                </a:solidFill>
              </a:rPr>
              <a:t> MTH516A – Nonparametric Inference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Instructor:</a:t>
            </a:r>
            <a:r>
              <a:rPr lang="en-US" sz="2400" dirty="0" smtClean="0">
                <a:solidFill>
                  <a:schemeClr val="tx1"/>
                </a:solidFill>
              </a:rPr>
              <a:t> Dr. </a:t>
            </a:r>
            <a:r>
              <a:rPr lang="en-US" sz="2400" dirty="0" err="1" smtClean="0">
                <a:solidFill>
                  <a:schemeClr val="tx1"/>
                </a:solidFill>
              </a:rPr>
              <a:t>Sharmistha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Mitra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Date:</a:t>
            </a:r>
            <a:r>
              <a:rPr lang="en-US" sz="2400" dirty="0" smtClean="0">
                <a:solidFill>
                  <a:schemeClr val="tx1"/>
                </a:solidFill>
              </a:rPr>
              <a:t> November 2025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Introduction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Dataset: 843 college students (aged 18–21)</a:t>
            </a:r>
          </a:p>
          <a:p>
            <a:r>
              <a:rPr lang="en-GB" dirty="0" smtClean="0"/>
              <a:t>Survey: 10 stress-related questions (</a:t>
            </a:r>
            <a:r>
              <a:rPr lang="en-GB" dirty="0" err="1" smtClean="0"/>
              <a:t>Likert</a:t>
            </a:r>
            <a:r>
              <a:rPr lang="en-GB" dirty="0" smtClean="0"/>
              <a:t> scale: “Not at all” to “Extremely”)</a:t>
            </a:r>
          </a:p>
          <a:p>
            <a:r>
              <a:rPr lang="en-GB" dirty="0" smtClean="0"/>
              <a:t>Aim: Apply </a:t>
            </a:r>
            <a:r>
              <a:rPr lang="en-GB" b="1" dirty="0" smtClean="0"/>
              <a:t>nonparametric methods</a:t>
            </a:r>
            <a:r>
              <a:rPr lang="en-GB" dirty="0" smtClean="0"/>
              <a:t> to analyze stress patterns</a:t>
            </a:r>
          </a:p>
          <a:p>
            <a:r>
              <a:rPr lang="en-GB" dirty="0" smtClean="0"/>
              <a:t>Why nonparametric? → Data may not follow normal distribution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QUESTIONS ASKED</a:t>
            </a:r>
            <a:endParaRPr lang="en-US" b="1" i="1" dirty="0">
              <a:solidFill>
                <a:srgbClr val="00B0F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83357"/>
            <a:ext cx="8229600" cy="3959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Methods Used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Wilcoxon</a:t>
            </a:r>
            <a:r>
              <a:rPr lang="en-US" dirty="0" smtClean="0"/>
              <a:t> (Mann–Whitney) Test</a:t>
            </a:r>
          </a:p>
          <a:p>
            <a:r>
              <a:rPr lang="en-US" dirty="0" err="1" smtClean="0"/>
              <a:t>Kolmogorov</a:t>
            </a:r>
            <a:r>
              <a:rPr lang="en-US" dirty="0" smtClean="0"/>
              <a:t>–Smirnov Test</a:t>
            </a:r>
          </a:p>
          <a:p>
            <a:r>
              <a:rPr lang="en-US" dirty="0" err="1" smtClean="0"/>
              <a:t>Ansari</a:t>
            </a:r>
            <a:r>
              <a:rPr lang="en-US" dirty="0" smtClean="0"/>
              <a:t>–Bradley Scale Test</a:t>
            </a:r>
          </a:p>
          <a:p>
            <a:r>
              <a:rPr lang="en-US" dirty="0" smtClean="0"/>
              <a:t>Capon’s Custom Scale Test</a:t>
            </a:r>
          </a:p>
          <a:p>
            <a:r>
              <a:rPr lang="en-US" dirty="0" err="1" smtClean="0"/>
              <a:t>Kruskal</a:t>
            </a:r>
            <a:r>
              <a:rPr lang="en-US" dirty="0" smtClean="0"/>
              <a:t>–Wallis Test</a:t>
            </a:r>
          </a:p>
          <a:p>
            <a:r>
              <a:rPr lang="en-US" dirty="0" smtClean="0"/>
              <a:t>Spearman’s </a:t>
            </a:r>
            <a:r>
              <a:rPr lang="el-GR" dirty="0" smtClean="0"/>
              <a:t>ρ </a:t>
            </a:r>
            <a:r>
              <a:rPr lang="en-US" dirty="0" smtClean="0"/>
              <a:t>and Kendall’s </a:t>
            </a:r>
            <a:r>
              <a:rPr lang="el-GR" dirty="0" smtClean="0"/>
              <a:t>τ </a:t>
            </a:r>
            <a:r>
              <a:rPr lang="en-US" dirty="0" smtClean="0"/>
              <a:t>correlations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Data Preparation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Loaded and cleaned dataset in R</a:t>
            </a:r>
          </a:p>
          <a:p>
            <a:r>
              <a:rPr lang="en-GB" dirty="0" smtClean="0"/>
              <a:t>Renamed questions → Q1–Q10</a:t>
            </a:r>
          </a:p>
          <a:p>
            <a:r>
              <a:rPr lang="en-GB" dirty="0" smtClean="0"/>
              <a:t>Converted variables to numeric</a:t>
            </a:r>
          </a:p>
          <a:p>
            <a:r>
              <a:rPr lang="en-US" dirty="0" smtClean="0"/>
              <a:t>Created age groups:</a:t>
            </a:r>
            <a:br>
              <a:rPr lang="en-US" dirty="0" smtClean="0"/>
            </a:br>
            <a:r>
              <a:rPr lang="en-US" dirty="0" smtClean="0"/>
              <a:t>a. &lt;=20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b.21-22</a:t>
            </a:r>
            <a:br>
              <a:rPr lang="en-US" dirty="0" smtClean="0"/>
            </a:br>
            <a:r>
              <a:rPr lang="en-US" dirty="0" smtClean="0"/>
              <a:t>c.&gt;22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Visualization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err="1" smtClean="0"/>
              <a:t>Boxplot</a:t>
            </a:r>
            <a:r>
              <a:rPr lang="en-US" b="1" dirty="0" smtClean="0"/>
              <a:t>:</a:t>
            </a:r>
            <a:r>
              <a:rPr lang="en-US" dirty="0" smtClean="0"/>
              <a:t> Q1 (Stress) </a:t>
            </a:r>
            <a:r>
              <a:rPr lang="en-US" dirty="0" err="1" smtClean="0"/>
              <a:t>vs</a:t>
            </a:r>
            <a:r>
              <a:rPr lang="en-US" dirty="0" smtClean="0"/>
              <a:t> Gender → Median similar across genders.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14818"/>
            <a:ext cx="4643158" cy="2643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 err="1" smtClean="0"/>
              <a:t>Heatmap</a:t>
            </a:r>
            <a:r>
              <a:rPr lang="en-GB" b="1" dirty="0" smtClean="0"/>
              <a:t>:</a:t>
            </a:r>
            <a:r>
              <a:rPr lang="en-GB" dirty="0" smtClean="0"/>
              <a:t> Spearman correlation among Q1–Q10 → strong associations among stress indicators.</a:t>
            </a:r>
          </a:p>
          <a:p>
            <a:endParaRPr lang="en-GB" dirty="0" smtClean="0"/>
          </a:p>
          <a:p>
            <a:endParaRPr lang="en-GB" dirty="0" smtClean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9384" y="4143380"/>
            <a:ext cx="4414616" cy="27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Descriptive Statistics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Median and IQR summarized for Q1–Q10.</a:t>
            </a:r>
          </a:p>
          <a:p>
            <a:r>
              <a:rPr lang="en-US" dirty="0"/>
              <a:t>Interpretation: Moderate stress levels overall.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628" y="1643160"/>
            <a:ext cx="3357586" cy="490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Wilcoxon</a:t>
            </a:r>
            <a:r>
              <a:rPr lang="en-US" b="1" i="1" dirty="0" smtClean="0">
                <a:solidFill>
                  <a:srgbClr val="00B0F0"/>
                </a:solidFill>
              </a:rPr>
              <a:t> (Mann–Whitney) Test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Compared stress by </a:t>
            </a:r>
            <a:r>
              <a:rPr lang="en-GB" b="1" dirty="0"/>
              <a:t>Gender</a:t>
            </a:r>
            <a:endParaRPr lang="en-GB" dirty="0"/>
          </a:p>
          <a:p>
            <a:r>
              <a:rPr lang="en-GB" dirty="0"/>
              <a:t>H₀: Distribution same for males and females</a:t>
            </a:r>
          </a:p>
          <a:p>
            <a:r>
              <a:rPr lang="en-GB" dirty="0"/>
              <a:t>Result: All p &gt; 0.05</a:t>
            </a:r>
          </a:p>
          <a:p>
            <a:r>
              <a:rPr lang="en-GB" b="1" dirty="0"/>
              <a:t>Conclusion:</a:t>
            </a:r>
            <a:r>
              <a:rPr lang="en-GB" dirty="0"/>
              <a:t> No significant gender difference in stress levels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990395" y="1600200"/>
            <a:ext cx="33542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Kolmogorov</a:t>
            </a:r>
            <a:r>
              <a:rPr lang="en-US" b="1" i="1" dirty="0" smtClean="0">
                <a:solidFill>
                  <a:srgbClr val="00B0F0"/>
                </a:solidFill>
              </a:rPr>
              <a:t>–Smirnov Test</a:t>
            </a:r>
            <a:br>
              <a:rPr lang="en-US" b="1" i="1" dirty="0" smtClean="0">
                <a:solidFill>
                  <a:srgbClr val="00B0F0"/>
                </a:solidFill>
              </a:rPr>
            </a:br>
            <a:endParaRPr lang="en-US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Compared full distributions between genders</a:t>
            </a:r>
          </a:p>
          <a:p>
            <a:r>
              <a:rPr lang="en-GB" dirty="0" smtClean="0"/>
              <a:t>Result: No significant difference in distributions (all p &gt; 0.05)</a:t>
            </a:r>
          </a:p>
          <a:p>
            <a:r>
              <a:rPr lang="en-GB" b="1" dirty="0" smtClean="0"/>
              <a:t>Interpretation:</a:t>
            </a:r>
            <a:r>
              <a:rPr lang="en-GB" dirty="0" smtClean="0"/>
              <a:t> Gender responses have similar overall patterns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65695" y="1600200"/>
            <a:ext cx="36036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Ansari</a:t>
            </a:r>
            <a:r>
              <a:rPr lang="en-US" b="1" i="1" dirty="0" smtClean="0">
                <a:solidFill>
                  <a:srgbClr val="00B0F0"/>
                </a:solidFill>
              </a:rPr>
              <a:t>–Bradley Scale Test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Tested </a:t>
            </a:r>
            <a:r>
              <a:rPr lang="en-GB" b="1" dirty="0" smtClean="0"/>
              <a:t>equality of variability (spread)</a:t>
            </a:r>
            <a:r>
              <a:rPr lang="en-GB" dirty="0" smtClean="0"/>
              <a:t> between genders</a:t>
            </a:r>
          </a:p>
          <a:p>
            <a:r>
              <a:rPr lang="en-GB" b="1" dirty="0" smtClean="0"/>
              <a:t>H₀:</a:t>
            </a:r>
            <a:r>
              <a:rPr lang="en-GB" dirty="0" smtClean="0"/>
              <a:t> Equal variability of responses for males and females</a:t>
            </a:r>
          </a:p>
          <a:p>
            <a:r>
              <a:rPr lang="en-GB" b="1" dirty="0" smtClean="0"/>
              <a:t>Result:</a:t>
            </a:r>
            <a:br>
              <a:rPr lang="en-GB" b="1" dirty="0" smtClean="0"/>
            </a:br>
            <a:r>
              <a:rPr lang="en-GB" b="1" dirty="0" smtClean="0"/>
              <a:t>a.</a:t>
            </a:r>
            <a:r>
              <a:rPr lang="en-US" dirty="0" smtClean="0"/>
              <a:t>Q1 significant (p = 0.00015)</a:t>
            </a:r>
            <a:br>
              <a:rPr lang="en-US" dirty="0" smtClean="0"/>
            </a:br>
            <a:r>
              <a:rPr lang="en-US" dirty="0" smtClean="0"/>
              <a:t>b. Others not significant</a:t>
            </a:r>
          </a:p>
          <a:p>
            <a:r>
              <a:rPr lang="en-IN" dirty="0" smtClean="0"/>
              <a:t>Conclusion:</a:t>
            </a:r>
            <a:br>
              <a:rPr lang="en-IN" dirty="0" smtClean="0"/>
            </a:br>
            <a:r>
              <a:rPr lang="en-IN" dirty="0" smtClean="0"/>
              <a:t>a.</a:t>
            </a:r>
            <a:r>
              <a:rPr lang="en-GB" dirty="0" smtClean="0"/>
              <a:t> Only </a:t>
            </a:r>
            <a:r>
              <a:rPr lang="en-GB" i="1" dirty="0" smtClean="0"/>
              <a:t>overall stress level (Q1)</a:t>
            </a:r>
            <a:r>
              <a:rPr lang="en-GB" dirty="0" smtClean="0"/>
              <a:t> shows different variability.</a:t>
            </a:r>
            <a:br>
              <a:rPr lang="en-GB" dirty="0" smtClean="0"/>
            </a:br>
            <a:r>
              <a:rPr lang="en-GB" dirty="0" smtClean="0"/>
              <a:t>b. Females possibly more varied in stress intensity.</a:t>
            </a: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06984" y="1600200"/>
            <a:ext cx="272103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Capon’s Custom Scale Test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 </a:t>
            </a:r>
            <a:r>
              <a:rPr lang="en-GB" b="1" dirty="0" smtClean="0"/>
              <a:t>robust alternative</a:t>
            </a:r>
            <a:r>
              <a:rPr lang="en-GB" dirty="0" smtClean="0"/>
              <a:t> to the </a:t>
            </a:r>
            <a:r>
              <a:rPr lang="en-GB" dirty="0" err="1" smtClean="0"/>
              <a:t>Ansari</a:t>
            </a:r>
            <a:r>
              <a:rPr lang="en-GB" dirty="0" smtClean="0"/>
              <a:t>–Bradley test</a:t>
            </a:r>
          </a:p>
          <a:p>
            <a:r>
              <a:rPr lang="en-GB" b="1" dirty="0" smtClean="0"/>
              <a:t>H₀:</a:t>
            </a:r>
            <a:r>
              <a:rPr lang="en-GB" dirty="0" smtClean="0"/>
              <a:t> Equal spread between genders</a:t>
            </a:r>
          </a:p>
          <a:p>
            <a:r>
              <a:rPr lang="en-GB" b="1" dirty="0" smtClean="0"/>
              <a:t>Result:</a:t>
            </a:r>
            <a:r>
              <a:rPr lang="en-GB" dirty="0" smtClean="0"/>
              <a:t> All p &gt; 0.05</a:t>
            </a:r>
          </a:p>
          <a:p>
            <a:r>
              <a:rPr lang="en-GB" b="1" dirty="0" smtClean="0"/>
              <a:t>Conclusion: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a.</a:t>
            </a:r>
            <a:r>
              <a:rPr lang="en-GB" dirty="0" smtClean="0"/>
              <a:t> Confirms similar variability between genders</a:t>
            </a:r>
            <a:br>
              <a:rPr lang="en-GB" dirty="0" smtClean="0"/>
            </a:br>
            <a:r>
              <a:rPr lang="en-GB" dirty="0" smtClean="0"/>
              <a:t>b.</a:t>
            </a:r>
            <a:r>
              <a:rPr lang="en-US" dirty="0" smtClean="0"/>
              <a:t>Supports </a:t>
            </a:r>
            <a:r>
              <a:rPr lang="en-US" dirty="0" err="1" smtClean="0"/>
              <a:t>Ansari</a:t>
            </a:r>
            <a:r>
              <a:rPr lang="en-US" dirty="0" smtClean="0"/>
              <a:t>–Bradley results overall</a:t>
            </a:r>
          </a:p>
          <a:p>
            <a:endParaRPr lang="en-GB" dirty="0" smtClean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077486"/>
            <a:ext cx="4038600" cy="3571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Kruskal</a:t>
            </a:r>
            <a:r>
              <a:rPr lang="en-US" b="1" i="1" dirty="0" smtClean="0">
                <a:solidFill>
                  <a:srgbClr val="00B0F0"/>
                </a:solidFill>
              </a:rPr>
              <a:t>–Wallis Test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Compared stress by </a:t>
            </a:r>
            <a:r>
              <a:rPr lang="en-GB" b="1" dirty="0" smtClean="0"/>
              <a:t>Age group</a:t>
            </a:r>
            <a:endParaRPr lang="en-GB" dirty="0" smtClean="0"/>
          </a:p>
          <a:p>
            <a:r>
              <a:rPr lang="en-GB" dirty="0" smtClean="0"/>
              <a:t>H₀: Same median across all age groups</a:t>
            </a:r>
          </a:p>
          <a:p>
            <a:r>
              <a:rPr lang="en-GB" dirty="0" smtClean="0"/>
              <a:t>Result: Only </a:t>
            </a:r>
            <a:r>
              <a:rPr lang="en-GB" b="1" dirty="0" smtClean="0"/>
              <a:t>Q8 (difficulty in concentration)</a:t>
            </a:r>
            <a:r>
              <a:rPr lang="en-GB" dirty="0" smtClean="0"/>
              <a:t> significant (p = 0.003)</a:t>
            </a:r>
          </a:p>
          <a:p>
            <a:r>
              <a:rPr lang="en-GB" b="1" dirty="0" smtClean="0"/>
              <a:t>Conclusion:</a:t>
            </a:r>
            <a:r>
              <a:rPr lang="en-GB" dirty="0" smtClean="0"/>
              <a:t> Difficulty in concentration differs across age groups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786314" y="1714488"/>
            <a:ext cx="4038600" cy="4194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Rank Correlations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Spearman’s </a:t>
            </a:r>
            <a:r>
              <a:rPr lang="el-GR" b="1" dirty="0" smtClean="0"/>
              <a:t>ρ</a:t>
            </a:r>
            <a:r>
              <a:rPr lang="el-GR" dirty="0" smtClean="0"/>
              <a:t>: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a.</a:t>
            </a:r>
            <a:r>
              <a:rPr lang="en-US" dirty="0" smtClean="0"/>
              <a:t> Q1–Q2 = 0.43 (strong)</a:t>
            </a:r>
            <a:br>
              <a:rPr lang="en-US" dirty="0" smtClean="0"/>
            </a:br>
            <a:r>
              <a:rPr lang="en-US" dirty="0" smtClean="0"/>
              <a:t>b. Q1–Q3 = 0.22 (moderate)</a:t>
            </a:r>
          </a:p>
          <a:p>
            <a:r>
              <a:rPr lang="en-GB" b="1" dirty="0" smtClean="0"/>
              <a:t>Kendall’s τ:</a:t>
            </a:r>
            <a:r>
              <a:rPr lang="en-GB" dirty="0" smtClean="0"/>
              <a:t> consistent with Spearman’s ρ</a:t>
            </a:r>
          </a:p>
          <a:p>
            <a:r>
              <a:rPr lang="en-GB" b="1" dirty="0" smtClean="0"/>
              <a:t>Interpretation:</a:t>
            </a:r>
            <a:r>
              <a:rPr lang="en-GB" dirty="0" smtClean="0"/>
              <a:t> Stress positively related to palpitations and anxiety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3438" y="1285860"/>
            <a:ext cx="3714776" cy="2822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3974540"/>
            <a:ext cx="4071967" cy="2883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Age–Stress Correlation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 smtClean="0"/>
              <a:t>Spearman’s ρ (Age, Q1) = 0.11</a:t>
            </a:r>
            <a:r>
              <a:rPr lang="en-GB" dirty="0" smtClean="0"/>
              <a:t>, p = 0.0009</a:t>
            </a:r>
          </a:p>
          <a:p>
            <a:r>
              <a:rPr lang="en-GB" dirty="0" smtClean="0"/>
              <a:t>Weak but positive relationship</a:t>
            </a:r>
          </a:p>
          <a:p>
            <a:r>
              <a:rPr lang="en-GB" dirty="0" smtClean="0"/>
              <a:t>Slight increase in stress levels with age</a:t>
            </a:r>
          </a:p>
          <a:p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3438" y="1571612"/>
            <a:ext cx="4038600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Summary of Inferences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gender difference in stress (</a:t>
            </a:r>
            <a:r>
              <a:rPr lang="en-US" dirty="0" err="1" smtClean="0"/>
              <a:t>Wilcoxon</a:t>
            </a:r>
            <a:r>
              <a:rPr lang="en-US" dirty="0" smtClean="0"/>
              <a:t>, KS)</a:t>
            </a:r>
          </a:p>
          <a:p>
            <a:r>
              <a:rPr lang="en-US" dirty="0" smtClean="0"/>
              <a:t>Q8 varies by age group (</a:t>
            </a:r>
            <a:r>
              <a:rPr lang="en-US" dirty="0" err="1" smtClean="0"/>
              <a:t>Kruskal</a:t>
            </a:r>
            <a:r>
              <a:rPr lang="en-US" dirty="0" smtClean="0"/>
              <a:t>–Wallis)</a:t>
            </a:r>
          </a:p>
          <a:p>
            <a:r>
              <a:rPr lang="en-US" dirty="0" smtClean="0"/>
              <a:t>Variability difference only for Q1 (</a:t>
            </a:r>
            <a:r>
              <a:rPr lang="en-US" dirty="0" err="1" smtClean="0"/>
              <a:t>Ansari</a:t>
            </a:r>
            <a:r>
              <a:rPr lang="en-US" dirty="0" smtClean="0"/>
              <a:t>–Bradley)</a:t>
            </a:r>
          </a:p>
          <a:p>
            <a:r>
              <a:rPr lang="en-US" dirty="0" smtClean="0"/>
              <a:t>Capon’s test supports equal spread</a:t>
            </a:r>
          </a:p>
          <a:p>
            <a:r>
              <a:rPr lang="en-US" dirty="0" smtClean="0"/>
              <a:t>Strong Q1–Q2 correlation (</a:t>
            </a:r>
            <a:r>
              <a:rPr lang="el-GR" dirty="0" smtClean="0"/>
              <a:t>ρ ≈ 0.43)</a:t>
            </a:r>
          </a:p>
          <a:p>
            <a:r>
              <a:rPr lang="en-US" dirty="0" smtClean="0"/>
              <a:t>Weak positive stress–age relationship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Conclusion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Nonparametric methods effectively analyzed ordinal data.</a:t>
            </a:r>
          </a:p>
          <a:p>
            <a:r>
              <a:rPr lang="en-US" dirty="0" smtClean="0"/>
              <a:t>Findings indicate:</a:t>
            </a:r>
            <a:br>
              <a:rPr lang="en-US" dirty="0" smtClean="0"/>
            </a:br>
            <a:r>
              <a:rPr lang="en-US" dirty="0" smtClean="0"/>
              <a:t>a.</a:t>
            </a:r>
            <a:r>
              <a:rPr lang="en-GB" dirty="0" smtClean="0"/>
              <a:t> Consistent stress levels across gender.</a:t>
            </a:r>
            <a:br>
              <a:rPr lang="en-GB" dirty="0" smtClean="0"/>
            </a:br>
            <a:r>
              <a:rPr lang="en-GB" dirty="0" smtClean="0"/>
              <a:t>b. Moderate physiological and emotional correlations.</a:t>
            </a:r>
            <a:br>
              <a:rPr lang="en-GB" dirty="0" smtClean="0"/>
            </a:br>
            <a:r>
              <a:rPr lang="en-GB" dirty="0" smtClean="0"/>
              <a:t>c.</a:t>
            </a:r>
            <a:r>
              <a:rPr lang="en-US" dirty="0" smtClean="0"/>
              <a:t> Minimal age effect.</a:t>
            </a:r>
          </a:p>
          <a:p>
            <a:r>
              <a:rPr lang="en-GB" b="1" dirty="0" smtClean="0"/>
              <a:t>Overall:</a:t>
            </a:r>
            <a:r>
              <a:rPr lang="en-GB" dirty="0" smtClean="0"/>
              <a:t> Robust insights using rank-based inference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418</Words>
  <Application>Microsoft Office PowerPoint</Application>
  <PresentationFormat>On-screen Show (4:3)</PresentationFormat>
  <Paragraphs>75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Title: Nonparametric Inference Analysis on Stress Dataset</vt:lpstr>
      <vt:lpstr>Introduction</vt:lpstr>
      <vt:lpstr>QUESTIONS ASKED</vt:lpstr>
      <vt:lpstr>Methods Used</vt:lpstr>
      <vt:lpstr>Data Preparation</vt:lpstr>
      <vt:lpstr>Visualization</vt:lpstr>
      <vt:lpstr>Descriptive Statistics</vt:lpstr>
      <vt:lpstr>Wilcoxon (Mann–Whitney) Test</vt:lpstr>
      <vt:lpstr>Kolmogorov–Smirnov Test </vt:lpstr>
      <vt:lpstr>Ansari–Bradley Scale Test</vt:lpstr>
      <vt:lpstr>Capon’s Custom Scale Test</vt:lpstr>
      <vt:lpstr>Kruskal–Wallis Test</vt:lpstr>
      <vt:lpstr>Rank Correlations</vt:lpstr>
      <vt:lpstr>Age–Stress Correlation</vt:lpstr>
      <vt:lpstr>Summary of Inferences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Nonparametric Inference Analysis on Stress Dataset</dc:title>
  <dc:creator>USER</dc:creator>
  <cp:lastModifiedBy>USER</cp:lastModifiedBy>
  <cp:revision>11</cp:revision>
  <dcterms:created xsi:type="dcterms:W3CDTF">2025-11-02T03:51:10Z</dcterms:created>
  <dcterms:modified xsi:type="dcterms:W3CDTF">2025-11-08T04:55:11Z</dcterms:modified>
</cp:coreProperties>
</file>